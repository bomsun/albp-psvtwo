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C1A6F-CC65-6F79-8928-25858C784F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ECD8DE-82F5-14A3-2922-CB27711DDF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9BF6C-F7F6-EE0A-EF0B-31FCEA3CD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D44FA-9E8E-4119-9FEC-7F9E7A785B3C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8FE61-457D-947E-A405-C3287644B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4F3EA-2C5F-1EB3-D877-AEC66A420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B33AA-B77A-40D1-8856-44A7704E1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419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BAEC4-2ABC-547E-EB7B-A8DE6FF69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FF893-17C7-2C3F-A001-2267BC8F8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93757-7A54-7D80-DA0E-ECB1B7EDE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D44FA-9E8E-4119-9FEC-7F9E7A785B3C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34485-5125-E05B-4240-6E3BBFABE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59B8E-4E41-895B-6745-380397553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B33AA-B77A-40D1-8856-44A7704E1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21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020F9-41C0-E34B-5084-2D232BDC7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8061A-366F-F4A9-1098-435810500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C465C-69DF-DB7A-5269-0DB412B7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D44FA-9E8E-4119-9FEC-7F9E7A785B3C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C1CE8-1111-6828-18E8-2094F3769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ABE3C-F40A-4E08-B823-A9B61AE4B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B33AA-B77A-40D1-8856-44A7704E1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121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14B16-682A-2EC1-0EFC-0126D6676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86665-3874-C5F4-0228-5AAD60BE7F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CD5B55-0540-E6E4-FB96-1ED6285AE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369D3-FEF0-F243-B786-87B7A6B74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D44FA-9E8E-4119-9FEC-7F9E7A785B3C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E356B-1E3E-991C-4AC6-B9E92BF47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DC5012-84B3-6E19-6F74-FCB6B49A2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B33AA-B77A-40D1-8856-44A7704E1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986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738EF-7107-456D-D4FD-0876FE016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056D87-EA61-9FBE-58A8-5A91AADCE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4FDFB3-A4A3-4A07-9611-00FF73822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0F8D02-472E-0447-5263-EF6D47B18A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B7DE6D-0438-800D-D5A4-E3E89667A7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56744B-C0FE-94A0-8BD0-0AA27A7D8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D44FA-9E8E-4119-9FEC-7F9E7A785B3C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1DD366-3877-F8D3-1D1A-7FFF2F79B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1E141A-3B5F-A4B3-88AD-24CE34088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B33AA-B77A-40D1-8856-44A7704E1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737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68414-20EB-7596-365C-9B945B0A1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D9EE77-D167-7B7B-D1DD-D362C212C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D44FA-9E8E-4119-9FEC-7F9E7A785B3C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AB71F6-86A0-7017-95EA-7D86CDAAC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2C71C-8B65-1DE0-34A3-4AE17429E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B33AA-B77A-40D1-8856-44A7704E1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163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FDB832-A441-09C5-2538-AD2C58349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D44FA-9E8E-4119-9FEC-7F9E7A785B3C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C34C31-B321-362C-4CB2-D9EA266B8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54EFC-0218-4AF0-0698-C6CC33CDA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B33AA-B77A-40D1-8856-44A7704E1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374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42DFD-C839-BE57-398D-C94E7E8C2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41058-D87F-7895-468A-22E43F8B1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C8AB5-779A-F34F-9331-32CF52096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4C7FB-53AB-2DA2-02A7-1E2112655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D44FA-9E8E-4119-9FEC-7F9E7A785B3C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557EA-0946-6882-28BC-F169B708C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A80E87-1D65-8349-DB7D-3BC0121CC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B33AA-B77A-40D1-8856-44A7704E1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185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4F393-9155-341A-E637-5043B262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E3CDAA-89D3-49CE-E9E8-5BD625310B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B6002D-B848-EE29-1F4E-FC6C7CA07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BBF3D0-D3EB-2E37-D30A-3FF551C2D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D44FA-9E8E-4119-9FEC-7F9E7A785B3C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77441-066B-2785-C493-C0F091012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B57AE-AFEF-014C-D558-5A887A695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B33AA-B77A-40D1-8856-44A7704E1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987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831FE-0E65-DFEA-DFA4-E6D518C37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5B95F7-311D-F68F-C8ED-2DD646C3D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8C040-F5B4-67DB-FEF7-C6E0D629C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D44FA-9E8E-4119-9FEC-7F9E7A785B3C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AA3EB-4DDC-F859-AD3B-020AE05B9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D4623-8E91-E695-120E-E10E45E87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B33AA-B77A-40D1-8856-44A7704E1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19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317AAE-4072-FCE5-629F-AF27036C1B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1A0C8A-EFB1-E7F5-5A79-8D4CA1C7B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70BFE-9E27-C6FA-BF1B-937CD683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D44FA-9E8E-4119-9FEC-7F9E7A785B3C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4D805-1034-B1F7-3300-6CEE6D981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01CC8-E97A-6FAD-7790-D5FAF9800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B33AA-B77A-40D1-8856-44A7704E1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572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B5EF2C-F338-04B2-7729-54D4809F3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595F5-340A-BF79-0B32-F69A14B18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766EB-FD56-FDB4-C3FC-9A80962D46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FD44FA-9E8E-4119-9FEC-7F9E7A785B3C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09A46-D109-F257-CDD4-E84F730354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0B82F-84BE-C296-0DF8-110DCB00A9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0B33AA-B77A-40D1-8856-44A7704E1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268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1C6FB9-1AFB-C9A0-1CDB-30F2FB037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118435"/>
              </p:ext>
            </p:extLst>
          </p:nvPr>
        </p:nvGraphicFramePr>
        <p:xfrm>
          <a:off x="3813048" y="1504028"/>
          <a:ext cx="8074152" cy="4787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16610">
                  <a:extLst>
                    <a:ext uri="{9D8B030D-6E8A-4147-A177-3AD203B41FA5}">
                      <a16:colId xmlns:a16="http://schemas.microsoft.com/office/drawing/2014/main" val="3852671201"/>
                    </a:ext>
                  </a:extLst>
                </a:gridCol>
                <a:gridCol w="1230449">
                  <a:extLst>
                    <a:ext uri="{9D8B030D-6E8A-4147-A177-3AD203B41FA5}">
                      <a16:colId xmlns:a16="http://schemas.microsoft.com/office/drawing/2014/main" val="1847041821"/>
                    </a:ext>
                  </a:extLst>
                </a:gridCol>
                <a:gridCol w="2079256">
                  <a:extLst>
                    <a:ext uri="{9D8B030D-6E8A-4147-A177-3AD203B41FA5}">
                      <a16:colId xmlns:a16="http://schemas.microsoft.com/office/drawing/2014/main" val="3972689977"/>
                    </a:ext>
                  </a:extLst>
                </a:gridCol>
                <a:gridCol w="1243730">
                  <a:extLst>
                    <a:ext uri="{9D8B030D-6E8A-4147-A177-3AD203B41FA5}">
                      <a16:colId xmlns:a16="http://schemas.microsoft.com/office/drawing/2014/main" val="1311910429"/>
                    </a:ext>
                  </a:extLst>
                </a:gridCol>
                <a:gridCol w="1087497">
                  <a:extLst>
                    <a:ext uri="{9D8B030D-6E8A-4147-A177-3AD203B41FA5}">
                      <a16:colId xmlns:a16="http://schemas.microsoft.com/office/drawing/2014/main" val="3476024522"/>
                    </a:ext>
                  </a:extLst>
                </a:gridCol>
                <a:gridCol w="1216610">
                  <a:extLst>
                    <a:ext uri="{9D8B030D-6E8A-4147-A177-3AD203B41FA5}">
                      <a16:colId xmlns:a16="http://schemas.microsoft.com/office/drawing/2014/main" val="1292940457"/>
                    </a:ext>
                  </a:extLst>
                </a:gridCol>
              </a:tblGrid>
              <a:tr h="2991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Instance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Total Tasks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Avg Tasks per Model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Cycle Time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Obj Value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Opt Gap (%)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6914294"/>
                  </a:ext>
                </a:extLst>
              </a:tr>
              <a:tr h="2991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Mertens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6.7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283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8615658"/>
                  </a:ext>
                </a:extLst>
              </a:tr>
              <a:tr h="2991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Bowman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7.7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284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13431608"/>
                  </a:ext>
                </a:extLst>
              </a:tr>
              <a:tr h="2991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Jaeschke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9.0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366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75966518"/>
                  </a:ext>
                </a:extLst>
              </a:tr>
              <a:tr h="2991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Jackson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11.0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416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50659430"/>
                  </a:ext>
                </a:extLst>
              </a:tr>
              <a:tr h="2991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Mansoor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11.0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283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06771141"/>
                  </a:ext>
                </a:extLst>
              </a:tr>
              <a:tr h="2991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Mitchell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62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20.7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577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94356465"/>
                  </a:ext>
                </a:extLst>
              </a:tr>
              <a:tr h="2991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Roszieg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73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24.3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627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73276853"/>
                  </a:ext>
                </a:extLst>
              </a:tr>
              <a:tr h="2991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Heskiaoff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84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28.0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138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475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1017664"/>
                  </a:ext>
                </a:extLst>
              </a:tr>
              <a:tr h="2991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Buxey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87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29.0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658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06636412"/>
                  </a:ext>
                </a:extLst>
              </a:tr>
              <a:tr h="2991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Sawyer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88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29.3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750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71090788"/>
                  </a:ext>
                </a:extLst>
              </a:tr>
              <a:tr h="2991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Lutz1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96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32.0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1414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747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4.6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03372445"/>
                  </a:ext>
                </a:extLst>
              </a:tr>
              <a:tr h="2991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Gunther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104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34.7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748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3.8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85538755"/>
                  </a:ext>
                </a:extLst>
              </a:tr>
              <a:tr h="2991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Kilbridge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134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44.7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737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5.9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1773006"/>
                  </a:ext>
                </a:extLst>
              </a:tr>
              <a:tr h="2991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Hahn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159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53.0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2004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657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9.1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32809053"/>
                  </a:ext>
                </a:extLst>
              </a:tr>
              <a:tr h="2991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Warnecke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173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57.7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1891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7.2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99229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D196AD4-B1D7-C3E1-C715-0016BC5B15D8}"/>
              </a:ext>
            </a:extLst>
          </p:cNvPr>
          <p:cNvSpPr txBox="1"/>
          <p:nvPr/>
        </p:nvSpPr>
        <p:spPr>
          <a:xfrm>
            <a:off x="137160" y="192024"/>
            <a:ext cx="83759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Extra Test Instances: Summary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BED46A-61CE-14B0-B3C0-44BD9E78DB2D}"/>
              </a:ext>
            </a:extLst>
          </p:cNvPr>
          <p:cNvSpPr txBox="1"/>
          <p:nvPr/>
        </p:nvSpPr>
        <p:spPr>
          <a:xfrm>
            <a:off x="0" y="2551837"/>
            <a:ext cx="36027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 product variants per instance;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cycle time picked as the smallest from the Otto dataset;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runtime limit: 4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lower bound: the obj of MP after two hours</a:t>
            </a:r>
          </a:p>
        </p:txBody>
      </p:sp>
    </p:spTree>
    <p:extLst>
      <p:ext uri="{BB962C8B-B14F-4D97-AF65-F5344CB8AC3E}">
        <p14:creationId xmlns:p14="http://schemas.microsoft.com/office/powerpoint/2010/main" val="1273472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F5954-20C9-F1B9-6F43-03ED6D019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9C6566-B25A-35C4-D1A7-65E3B4E2961A}"/>
              </a:ext>
            </a:extLst>
          </p:cNvPr>
          <p:cNvSpPr txBox="1"/>
          <p:nvPr/>
        </p:nvSpPr>
        <p:spPr>
          <a:xfrm>
            <a:off x="137160" y="192024"/>
            <a:ext cx="83759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Extra Test Instances: Generation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C03F0B-A520-B79D-CA12-BFD1C1300A7A}"/>
              </a:ext>
            </a:extLst>
          </p:cNvPr>
          <p:cNvSpPr txBox="1"/>
          <p:nvPr/>
        </p:nvSpPr>
        <p:spPr>
          <a:xfrm>
            <a:off x="307848" y="2039773"/>
            <a:ext cx="113751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two worker types: foreman (</a:t>
            </a:r>
            <a:r>
              <a:rPr lang="en-US" b="1" dirty="0"/>
              <a:t>F</a:t>
            </a:r>
            <a:r>
              <a:rPr lang="en-US" dirty="0"/>
              <a:t>, $50/</a:t>
            </a:r>
            <a:r>
              <a:rPr lang="en-US" dirty="0" err="1"/>
              <a:t>hr</a:t>
            </a:r>
            <a:r>
              <a:rPr lang="en-US" dirty="0"/>
              <a:t>) and unskilled workers (</a:t>
            </a:r>
            <a:r>
              <a:rPr lang="en-US" b="1" dirty="0"/>
              <a:t>U</a:t>
            </a:r>
            <a:r>
              <a:rPr lang="en-US" dirty="0"/>
              <a:t>, $30/</a:t>
            </a:r>
            <a:r>
              <a:rPr lang="en-US" dirty="0" err="1"/>
              <a:t>hr</a:t>
            </a:r>
            <a:r>
              <a:rPr lang="en-US" dirty="0"/>
              <a:t>), station cost $1/</a:t>
            </a:r>
            <a:r>
              <a:rPr lang="en-US" dirty="0" err="1"/>
              <a:t>hr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randomly assign worker types (70% F, 30% U) to each task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randomly assign two workers (50%) to each task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for those F-tasks, randomly add a second worker option (50%) by adding same number U-workers as # F-workers and reduce duration to 70%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for parallel tasks, randomly pick 5% as incompatible tasks</a:t>
            </a:r>
          </a:p>
        </p:txBody>
      </p:sp>
    </p:spTree>
    <p:extLst>
      <p:ext uri="{BB962C8B-B14F-4D97-AF65-F5344CB8AC3E}">
        <p14:creationId xmlns:p14="http://schemas.microsoft.com/office/powerpoint/2010/main" val="756356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33728-6A15-F99F-3B17-ACF0EE1D4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4A1047-0D65-39A2-E917-06BD5F37AD85}"/>
              </a:ext>
            </a:extLst>
          </p:cNvPr>
          <p:cNvSpPr txBox="1"/>
          <p:nvPr/>
        </p:nvSpPr>
        <p:spPr>
          <a:xfrm>
            <a:off x="137160" y="192024"/>
            <a:ext cx="83759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Extra Test Instances: Updates on Cuts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0E72DD-1A42-22EA-CE4D-CE291FA7FD33}"/>
              </a:ext>
            </a:extLst>
          </p:cNvPr>
          <p:cNvSpPr txBox="1"/>
          <p:nvPr/>
        </p:nvSpPr>
        <p:spPr>
          <a:xfrm>
            <a:off x="0" y="1060050"/>
            <a:ext cx="587635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invalid formula when parallel paths on the critical path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dynamic programming algorithm from Mathijs M. De </a:t>
            </a:r>
            <a:r>
              <a:rPr lang="en-US" dirty="0" err="1"/>
              <a:t>Weerdt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De </a:t>
            </a:r>
            <a:r>
              <a:rPr lang="en-US" sz="1400" dirty="0" err="1"/>
              <a:t>Weerdt</a:t>
            </a:r>
            <a:r>
              <a:rPr lang="en-US" sz="1400" dirty="0"/>
              <a:t>, M., </a:t>
            </a:r>
            <a:r>
              <a:rPr lang="en-US" sz="1400" dirty="0" err="1"/>
              <a:t>Baart</a:t>
            </a:r>
            <a:r>
              <a:rPr lang="en-US" sz="1400" dirty="0"/>
              <a:t>, R., &amp; He, L. (2021). Single-machine scheduling with release times, deadlines, setup times, and rejection. European Journal of Operational Research, 291(2), 629-639.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80FE82-C770-5C76-B742-7268152E1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995" y="924847"/>
            <a:ext cx="6429375" cy="20193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78EF4122-367E-CA33-2BCB-D1C20F545E4B}"/>
              </a:ext>
            </a:extLst>
          </p:cNvPr>
          <p:cNvSpPr/>
          <p:nvPr/>
        </p:nvSpPr>
        <p:spPr>
          <a:xfrm>
            <a:off x="172020" y="4069080"/>
            <a:ext cx="868680" cy="58891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C3FA87E-9293-0EF8-320D-763061830119}"/>
              </a:ext>
            </a:extLst>
          </p:cNvPr>
          <p:cNvSpPr/>
          <p:nvPr/>
        </p:nvSpPr>
        <p:spPr>
          <a:xfrm>
            <a:off x="1752980" y="3649980"/>
            <a:ext cx="868680" cy="588916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A8655F6-6AA2-FF1D-7359-D83BD3F9EC38}"/>
              </a:ext>
            </a:extLst>
          </p:cNvPr>
          <p:cNvSpPr/>
          <p:nvPr/>
        </p:nvSpPr>
        <p:spPr>
          <a:xfrm>
            <a:off x="1752980" y="4618046"/>
            <a:ext cx="868680" cy="588916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0F450B9-A171-4661-591F-17E7FA85458F}"/>
              </a:ext>
            </a:extLst>
          </p:cNvPr>
          <p:cNvSpPr/>
          <p:nvPr/>
        </p:nvSpPr>
        <p:spPr>
          <a:xfrm>
            <a:off x="3333940" y="4069080"/>
            <a:ext cx="868680" cy="588916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F039A10-606B-9FE3-28D9-D0D13644319F}"/>
              </a:ext>
            </a:extLst>
          </p:cNvPr>
          <p:cNvSpPr/>
          <p:nvPr/>
        </p:nvSpPr>
        <p:spPr>
          <a:xfrm>
            <a:off x="4707829" y="4069080"/>
            <a:ext cx="868680" cy="588916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7E18BC0-F541-0B33-F25F-0116DA1A4953}"/>
              </a:ext>
            </a:extLst>
          </p:cNvPr>
          <p:cNvCxnSpPr>
            <a:stCxn id="7" idx="7"/>
            <a:endCxn id="8" idx="2"/>
          </p:cNvCxnSpPr>
          <p:nvPr/>
        </p:nvCxnSpPr>
        <p:spPr>
          <a:xfrm flipV="1">
            <a:off x="913485" y="3944438"/>
            <a:ext cx="839495" cy="2108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8C3CDB6-A16E-A5C1-30B5-F5DEB0A47128}"/>
              </a:ext>
            </a:extLst>
          </p:cNvPr>
          <p:cNvCxnSpPr>
            <a:cxnSpLocks/>
            <a:stCxn id="7" idx="5"/>
            <a:endCxn id="9" idx="2"/>
          </p:cNvCxnSpPr>
          <p:nvPr/>
        </p:nvCxnSpPr>
        <p:spPr>
          <a:xfrm>
            <a:off x="913485" y="4571751"/>
            <a:ext cx="839495" cy="3407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AB92D21-A82D-7E26-D5CC-EB4C9217C43C}"/>
              </a:ext>
            </a:extLst>
          </p:cNvPr>
          <p:cNvCxnSpPr>
            <a:cxnSpLocks/>
            <a:stCxn id="9" idx="6"/>
            <a:endCxn id="10" idx="3"/>
          </p:cNvCxnSpPr>
          <p:nvPr/>
        </p:nvCxnSpPr>
        <p:spPr>
          <a:xfrm flipV="1">
            <a:off x="2621660" y="4571751"/>
            <a:ext cx="839495" cy="3407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FD936C8-3CDC-F3C8-0EBE-BAF75C56996C}"/>
              </a:ext>
            </a:extLst>
          </p:cNvPr>
          <p:cNvCxnSpPr>
            <a:cxnSpLocks/>
            <a:stCxn id="8" idx="6"/>
            <a:endCxn id="10" idx="1"/>
          </p:cNvCxnSpPr>
          <p:nvPr/>
        </p:nvCxnSpPr>
        <p:spPr>
          <a:xfrm>
            <a:off x="2621660" y="3944438"/>
            <a:ext cx="839495" cy="2108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A2156B6-00A6-F19B-FD1A-1A6EDA9656D0}"/>
              </a:ext>
            </a:extLst>
          </p:cNvPr>
          <p:cNvCxnSpPr>
            <a:cxnSpLocks/>
            <a:stCxn id="10" idx="6"/>
            <a:endCxn id="11" idx="2"/>
          </p:cNvCxnSpPr>
          <p:nvPr/>
        </p:nvCxnSpPr>
        <p:spPr>
          <a:xfrm>
            <a:off x="4202620" y="4363538"/>
            <a:ext cx="5052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D7646D00-9646-6FD0-0AB6-EBA5203CD84C}"/>
              </a:ext>
            </a:extLst>
          </p:cNvPr>
          <p:cNvSpPr/>
          <p:nvPr/>
        </p:nvSpPr>
        <p:spPr>
          <a:xfrm>
            <a:off x="6706932" y="4069080"/>
            <a:ext cx="868680" cy="588916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C89A04E-270B-40CE-CFDE-9718564D1256}"/>
              </a:ext>
            </a:extLst>
          </p:cNvPr>
          <p:cNvSpPr/>
          <p:nvPr/>
        </p:nvSpPr>
        <p:spPr>
          <a:xfrm>
            <a:off x="8287892" y="3649980"/>
            <a:ext cx="868680" cy="58891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D6C5BBC-13D3-374B-9DE6-74C7C89DC997}"/>
              </a:ext>
            </a:extLst>
          </p:cNvPr>
          <p:cNvSpPr/>
          <p:nvPr/>
        </p:nvSpPr>
        <p:spPr>
          <a:xfrm>
            <a:off x="8287892" y="4618046"/>
            <a:ext cx="868680" cy="588916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4B7F0BF-0328-208D-5805-0748F44C3091}"/>
              </a:ext>
            </a:extLst>
          </p:cNvPr>
          <p:cNvSpPr/>
          <p:nvPr/>
        </p:nvSpPr>
        <p:spPr>
          <a:xfrm>
            <a:off x="9868852" y="4069080"/>
            <a:ext cx="868680" cy="588916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24FB92A-593C-5E64-FEBC-9B811D7299B8}"/>
              </a:ext>
            </a:extLst>
          </p:cNvPr>
          <p:cNvSpPr/>
          <p:nvPr/>
        </p:nvSpPr>
        <p:spPr>
          <a:xfrm>
            <a:off x="11084052" y="4069080"/>
            <a:ext cx="868680" cy="588916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7EEF90D-3E7C-8082-3A2E-D40C8D0DD74B}"/>
              </a:ext>
            </a:extLst>
          </p:cNvPr>
          <p:cNvCxnSpPr>
            <a:stCxn id="26" idx="7"/>
            <a:endCxn id="27" idx="2"/>
          </p:cNvCxnSpPr>
          <p:nvPr/>
        </p:nvCxnSpPr>
        <p:spPr>
          <a:xfrm flipV="1">
            <a:off x="7448397" y="3944438"/>
            <a:ext cx="839495" cy="2108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0A389F1-E211-83C5-2181-8069558170AD}"/>
              </a:ext>
            </a:extLst>
          </p:cNvPr>
          <p:cNvCxnSpPr>
            <a:cxnSpLocks/>
            <a:stCxn id="26" idx="5"/>
            <a:endCxn id="28" idx="2"/>
          </p:cNvCxnSpPr>
          <p:nvPr/>
        </p:nvCxnSpPr>
        <p:spPr>
          <a:xfrm>
            <a:off x="7448397" y="4571751"/>
            <a:ext cx="839495" cy="3407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158E6E0-C4E9-716A-AAF3-C2EDCC99F04E}"/>
              </a:ext>
            </a:extLst>
          </p:cNvPr>
          <p:cNvCxnSpPr>
            <a:cxnSpLocks/>
            <a:stCxn id="28" idx="6"/>
            <a:endCxn id="29" idx="3"/>
          </p:cNvCxnSpPr>
          <p:nvPr/>
        </p:nvCxnSpPr>
        <p:spPr>
          <a:xfrm flipV="1">
            <a:off x="9156572" y="4571751"/>
            <a:ext cx="839495" cy="3407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16B2D3C-B77E-440A-EC40-A80CDE24AC32}"/>
              </a:ext>
            </a:extLst>
          </p:cNvPr>
          <p:cNvCxnSpPr>
            <a:cxnSpLocks/>
            <a:stCxn id="27" idx="6"/>
            <a:endCxn id="29" idx="1"/>
          </p:cNvCxnSpPr>
          <p:nvPr/>
        </p:nvCxnSpPr>
        <p:spPr>
          <a:xfrm>
            <a:off x="9156572" y="3944438"/>
            <a:ext cx="839495" cy="2108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669250C-104E-055F-E86F-2B6421E21DA6}"/>
              </a:ext>
            </a:extLst>
          </p:cNvPr>
          <p:cNvCxnSpPr>
            <a:cxnSpLocks/>
            <a:stCxn id="29" idx="6"/>
            <a:endCxn id="30" idx="2"/>
          </p:cNvCxnSpPr>
          <p:nvPr/>
        </p:nvCxnSpPr>
        <p:spPr>
          <a:xfrm>
            <a:off x="10737532" y="4363538"/>
            <a:ext cx="3465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819FAC7-F5D9-D573-E909-2E5873C57BE8}"/>
              </a:ext>
            </a:extLst>
          </p:cNvPr>
          <p:cNvSpPr txBox="1"/>
          <p:nvPr/>
        </p:nvSpPr>
        <p:spPr>
          <a:xfrm>
            <a:off x="2611188" y="5144264"/>
            <a:ext cx="1292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case 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E25B871-0548-C24F-FEA6-BB39144A2587}"/>
              </a:ext>
            </a:extLst>
          </p:cNvPr>
          <p:cNvSpPr txBox="1"/>
          <p:nvPr/>
        </p:nvSpPr>
        <p:spPr>
          <a:xfrm>
            <a:off x="9222391" y="5022296"/>
            <a:ext cx="1292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case 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96B43C2-4841-CEA0-D663-CC3321B51753}"/>
              </a:ext>
            </a:extLst>
          </p:cNvPr>
          <p:cNvSpPr txBox="1"/>
          <p:nvPr/>
        </p:nvSpPr>
        <p:spPr>
          <a:xfrm>
            <a:off x="2611188" y="3076914"/>
            <a:ext cx="7257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precedence graph examples with color legends for different skills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DDD39B-F641-BD28-BA58-D5A1250B6635}"/>
              </a:ext>
            </a:extLst>
          </p:cNvPr>
          <p:cNvSpPr txBox="1"/>
          <p:nvPr/>
        </p:nvSpPr>
        <p:spPr>
          <a:xfrm>
            <a:off x="275276" y="5500922"/>
            <a:ext cx="118510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tasks have 1-min duration, cycle time is 4 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case 1 works well that 1 green workers is </a:t>
            </a:r>
            <a:r>
              <a:rPr lang="en-US" dirty="0">
                <a:solidFill>
                  <a:srgbClr val="FF0000"/>
                </a:solidFill>
              </a:rPr>
              <a:t>not</a:t>
            </a:r>
            <a:r>
              <a:rPr lang="en-US" dirty="0"/>
              <a:t> enough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case 2 is invalid that 1 green workers is feasible while the formula removes this since the red task is also on the critical path</a:t>
            </a:r>
          </a:p>
        </p:txBody>
      </p:sp>
    </p:spTree>
    <p:extLst>
      <p:ext uri="{BB962C8B-B14F-4D97-AF65-F5344CB8AC3E}">
        <p14:creationId xmlns:p14="http://schemas.microsoft.com/office/powerpoint/2010/main" val="837024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367</Words>
  <Application>Microsoft Office PowerPoint</Application>
  <PresentationFormat>Widescreen</PresentationFormat>
  <Paragraphs>117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Wencang Bao</dc:creator>
  <cp:lastModifiedBy>Wencang Bao</cp:lastModifiedBy>
  <cp:revision>2</cp:revision>
  <dcterms:created xsi:type="dcterms:W3CDTF">2026-06-08T22:42:34Z</dcterms:created>
  <dcterms:modified xsi:type="dcterms:W3CDTF">2026-06-08T23:41:33Z</dcterms:modified>
</cp:coreProperties>
</file>